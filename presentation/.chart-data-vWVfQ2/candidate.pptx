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01648e45484471" /><Relationship Type="http://schemas.openxmlformats.org/officeDocument/2006/relationships/extended-properties" Target="/docProps/app.xml" Id="R63665d17eae04207" /><Relationship Type="http://schemas.openxmlformats.org/officeDocument/2006/relationships/officeDocument" Target="/ppt/presentation.xml" Id="R56f809653d6b4c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0619f32d164b78"/>
  </p:sldMasterIdLst>
  <p:notesMasterIdLst>
    <p:notesMasterId xmlns:r="http://schemas.openxmlformats.org/officeDocument/2006/relationships" r:id="Rd448bcaf68d7446a"/>
  </p:notesMasterIdLst>
  <p:sldIdLst>
    <p:sldId xmlns:r="http://schemas.openxmlformats.org/officeDocument/2006/relationships" id="256" r:id="R85e53cd059c34210"/>
    <p:sldId xmlns:r="http://schemas.openxmlformats.org/officeDocument/2006/relationships" id="257" r:id="Rf6f3d0c506474f53"/>
    <p:sldId xmlns:r="http://schemas.openxmlformats.org/officeDocument/2006/relationships" id="258" r:id="Rbcf00d517f624967"/>
    <p:sldId xmlns:r="http://schemas.openxmlformats.org/officeDocument/2006/relationships" id="259" r:id="R270bbbadcaed465a"/>
    <p:sldId xmlns:r="http://schemas.openxmlformats.org/officeDocument/2006/relationships" id="260" r:id="R6f229256063648ec"/>
    <p:sldId xmlns:r="http://schemas.openxmlformats.org/officeDocument/2006/relationships" id="261" r:id="R4b59ccbe91534439"/>
    <p:sldId xmlns:r="http://schemas.openxmlformats.org/officeDocument/2006/relationships" id="262" r:id="R5779d87a91a34b04"/>
    <p:sldId xmlns:r="http://schemas.openxmlformats.org/officeDocument/2006/relationships" id="263" r:id="R3cd9ac5125b545c7"/>
    <p:sldId xmlns:r="http://schemas.openxmlformats.org/officeDocument/2006/relationships" id="264" r:id="Ref636befaf8c420c"/>
    <p:sldId xmlns:r="http://schemas.openxmlformats.org/officeDocument/2006/relationships" id="265" r:id="Rbb5abd78cbf54bfd"/>
    <p:sldId xmlns:r="http://schemas.openxmlformats.org/officeDocument/2006/relationships" id="266" r:id="Rb7037819aa274a3c"/>
    <p:sldId xmlns:r="http://schemas.openxmlformats.org/officeDocument/2006/relationships" id="267" r:id="R6e3b6217b3f641a1"/>
    <p:sldId xmlns:r="http://schemas.openxmlformats.org/officeDocument/2006/relationships" id="268" r:id="R2cc0742cdcca404a"/>
    <p:sldId xmlns:r="http://schemas.openxmlformats.org/officeDocument/2006/relationships" id="269" r:id="Rbe54ea644c7e456b"/>
    <p:sldId xmlns:r="http://schemas.openxmlformats.org/officeDocument/2006/relationships" id="270" r:id="Rbb305ac8c3854098"/>
    <p:sldId xmlns:r="http://schemas.openxmlformats.org/officeDocument/2006/relationships" id="271" r:id="R4ace99a8aa2540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c87a5eb06a46c3" /><Relationship Type="http://schemas.openxmlformats.org/officeDocument/2006/relationships/slideMaster" Target="/ppt/slideMasters/slideMaster1.xml" Id="R730619f32d164b78" /><Relationship Type="http://schemas.openxmlformats.org/officeDocument/2006/relationships/notesMaster" Target="/ppt/notesMasters/notesMaster1.xml" Id="Rd448bcaf68d7446a" /><Relationship Type="http://schemas.openxmlformats.org/officeDocument/2006/relationships/presProps" Target="/ppt/presProps.xml" Id="R1301baaa03da491d" /><Relationship Type="http://schemas.openxmlformats.org/officeDocument/2006/relationships/tableStyles" Target="/ppt/tableStyles.xml" Id="R78e866876cd74272" /><Relationship Type="http://schemas.openxmlformats.org/officeDocument/2006/relationships/slide" Target="/ppt/slides/slide1.xml" Id="R85e53cd059c34210" /><Relationship Type="http://schemas.openxmlformats.org/officeDocument/2006/relationships/slide" Target="/ppt/slides/slide2.xml" Id="Rf6f3d0c506474f53" /><Relationship Type="http://schemas.openxmlformats.org/officeDocument/2006/relationships/slide" Target="/ppt/slides/slide3.xml" Id="Rbcf00d517f624967" /><Relationship Type="http://schemas.openxmlformats.org/officeDocument/2006/relationships/slide" Target="/ppt/slides/slide4.xml" Id="R270bbbadcaed465a" /><Relationship Type="http://schemas.openxmlformats.org/officeDocument/2006/relationships/slide" Target="/ppt/slides/slide5.xml" Id="R6f229256063648ec" /><Relationship Type="http://schemas.openxmlformats.org/officeDocument/2006/relationships/slide" Target="/ppt/slides/slide6.xml" Id="R4b59ccbe91534439" /><Relationship Type="http://schemas.openxmlformats.org/officeDocument/2006/relationships/slide" Target="/ppt/slides/slide7.xml" Id="R5779d87a91a34b04" /><Relationship Type="http://schemas.openxmlformats.org/officeDocument/2006/relationships/slide" Target="/ppt/slides/slide8.xml" Id="R3cd9ac5125b545c7" /><Relationship Type="http://schemas.openxmlformats.org/officeDocument/2006/relationships/slide" Target="/ppt/slides/slide9.xml" Id="Ref636befaf8c420c" /><Relationship Type="http://schemas.openxmlformats.org/officeDocument/2006/relationships/slide" Target="/ppt/slides/slide10.xml" Id="Rbb5abd78cbf54bfd" /><Relationship Type="http://schemas.openxmlformats.org/officeDocument/2006/relationships/slide" Target="/ppt/slides/slide11.xml" Id="Rb7037819aa274a3c" /><Relationship Type="http://schemas.openxmlformats.org/officeDocument/2006/relationships/slide" Target="/ppt/slides/slide12.xml" Id="R6e3b6217b3f641a1" /><Relationship Type="http://schemas.openxmlformats.org/officeDocument/2006/relationships/slide" Target="/ppt/slides/slide13.xml" Id="R2cc0742cdcca404a" /><Relationship Type="http://schemas.openxmlformats.org/officeDocument/2006/relationships/slide" Target="/ppt/slides/slide14.xml" Id="Rbe54ea644c7e456b" /><Relationship Type="http://schemas.openxmlformats.org/officeDocument/2006/relationships/slide" Target="/ppt/slides/slide15.xml" Id="Rbb305ac8c3854098" /><Relationship Type="http://schemas.openxmlformats.org/officeDocument/2006/relationships/slide" Target="/ppt/slides/slide16.xml" Id="R4ace99a8aa2540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02229c4b8c4a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bad9d279074dae" /><Relationship Type="http://schemas.openxmlformats.org/officeDocument/2006/relationships/notesMaster" Target="/ppt/notesMasters/notesMaster1.xml" Id="R43c1560406be40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97854b9beb452b" /><Relationship Type="http://schemas.openxmlformats.org/officeDocument/2006/relationships/notesMaster" Target="/ppt/notesMasters/notesMaster1.xml" Id="R6399458927e148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2cb558f16e4958" /><Relationship Type="http://schemas.openxmlformats.org/officeDocument/2006/relationships/notesMaster" Target="/ppt/notesMasters/notesMaster1.xml" Id="R13b855bff44446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613a7b532f41a7" /><Relationship Type="http://schemas.openxmlformats.org/officeDocument/2006/relationships/notesMaster" Target="/ppt/notesMasters/notesMaster1.xml" Id="R816adced6bda48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34212ea0174dff" /><Relationship Type="http://schemas.openxmlformats.org/officeDocument/2006/relationships/notesMaster" Target="/ppt/notesMasters/notesMaster1.xml" Id="Rc1402deb72f549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dfff5ce143495d" /><Relationship Type="http://schemas.openxmlformats.org/officeDocument/2006/relationships/notesMaster" Target="/ppt/notesMasters/notesMaster1.xml" Id="Re75c1c1c54a347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0369f196d3423f" /><Relationship Type="http://schemas.openxmlformats.org/officeDocument/2006/relationships/notesMaster" Target="/ppt/notesMasters/notesMaster1.xml" Id="R842870b3458d4d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5f071b3654a8d" /><Relationship Type="http://schemas.openxmlformats.org/officeDocument/2006/relationships/notesMaster" Target="/ppt/notesMasters/notesMaster1.xml" Id="R16bd56f581e445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fd0b1cddd14279" /><Relationship Type="http://schemas.openxmlformats.org/officeDocument/2006/relationships/notesMaster" Target="/ppt/notesMasters/notesMaster1.xml" Id="R42bf095aafde48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77b66e42b649a4" /><Relationship Type="http://schemas.openxmlformats.org/officeDocument/2006/relationships/notesMaster" Target="/ppt/notesMasters/notesMaster1.xml" Id="R7fa794f916da47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f07ab95311492e" /><Relationship Type="http://schemas.openxmlformats.org/officeDocument/2006/relationships/notesMaster" Target="/ppt/notesMasters/notesMaster1.xml" Id="R972da37ea74441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94ced1ccbe40b7" /><Relationship Type="http://schemas.openxmlformats.org/officeDocument/2006/relationships/notesMaster" Target="/ppt/notesMasters/notesMaster1.xml" Id="R90f11ec94e1145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9939662bb142bb" /><Relationship Type="http://schemas.openxmlformats.org/officeDocument/2006/relationships/notesMaster" Target="/ppt/notesMasters/notesMaster1.xml" Id="R1eeec2407e0444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969aea9dc94219" /><Relationship Type="http://schemas.openxmlformats.org/officeDocument/2006/relationships/notesMaster" Target="/ppt/notesMasters/notesMaster1.xml" Id="Rb1473cb4b9f740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27941c307747f5" /><Relationship Type="http://schemas.openxmlformats.org/officeDocument/2006/relationships/notesMaster" Target="/ppt/notesMasters/notesMaster1.xml" Id="Re8d1ecefad5e44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5b4f1addc841dd" /><Relationship Type="http://schemas.openxmlformats.org/officeDocument/2006/relationships/notesMaster" Target="/ppt/notesMasters/notesMaster1.xml" Id="R4d6ce4fcaf9142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Обложка: оригинальная декоративная иллюстрация, созданная с Imagegen. Обзор текущей версии локального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src/components/app/CheatingDaddyApp.js; src/components/views/AssistantView.js. Схема иллюстрирует поведение интерфейса, а не измерение времени.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src/components/views/InterviewTools.js; src/components/views/SessionConsole.js; src/components/views/HistoryView.js.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src/utils/interview-workflow.js; src/components/views/InterviewTools.js. Объединение реплик использует эвристики и временное окно. Пользователь проверяет и исправляет черновик.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src/components/views/AssistantView.js. Снимок реального компонента приложения в браузерном стенде. Демонстрационный текст ответа, не реальный диалог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src/utils/interview-workflow.js; src/components/views/InterviewTools.js. Формат задаётся инструкцией модели. Пример ниже объясняет структуру, а не является снимком интерфейса.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src/components/app/CheatingDaddyApp.js; src/components/views/InterviewTools.js. Автоматическую маршрутизацию можно исправить вручную.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src/utils/interview-workflow.js; src/components/views/InterviewTools.js; src/components/views/AICustomizeView.js. Контекст вакансии фиксируется при запуске сессии. Извлечение релевантных фрагментов использует совпадения слов.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src/components/views/InterviewTools.js; src/utils/hosted-ai.js. Стоимость зависит от выбранной OCR/vision-модели и провайдера. Обещания фиксированной экономии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src/utils/interview-workflow.js; src/utils/code-sandbox.js; src/components/views/InterviewTools.js. Код запускается вручную, при наличии Docker. SQL проверяется в SQLite. Race detector Go не включён.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src/components/views/InterviewTools.js; src/utils/interview-workflow.js. Схема ниже демонстрационная. Реальный редактор поддерживает простые узлы и связи, требования, нагрузку, API, хранилища, решения, изменения и предыдущие версии.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src/utils/session-support.js; src/components/views/SessionConsole.js; src/components/app/CheatingDaddyApp.js. Проверка отражает момент запуска. Сохранение раз в секунду и при обычном закрытии. Повтор запроса может тарифицироваться повторно.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src/utils/session-support.js; src/components/views/HistoryView.js. Разбор локальный, эвристический. Демонстрационные примеры ниже. Устные ответы пользователя не оцениваются.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src/utils/hosted-ai.js; src/storage.js; src/utils/interview-storage.js; docs/INTERVIEW_CHECKLIST_RU.md. Новые режимы сессии рассчитаны на OpenAI и OpenRouter. Gemini/Groq и local существуют как другие режимы, без обещания полного паритета. API оплачивается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tests/*.test.js; presentation/.build/tests.txt. 54 теста прошли 23.09.2026. Группы: reading-position 21, hosted-ai 13, interview-workflow 6, остальные 14. Это количество автоматических сценариев, не процент покрытия и не гарантия отсутствия ошибок.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README.md; src/components/views/HelpView.js; docs/INTERVIEW_CHECKLIST_RU.md. Для текущей macOS-сборки путь /Applications/Cheating Daddy.app. Из исходников npm install и npm start.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074a2cc8e4d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25dd724d294182" /><Relationship Type="http://schemas.openxmlformats.org/officeDocument/2006/relationships/slideLayout" Target="/ppt/slideLayouts/slideLayout1.xml" Id="R9be945d2c86c4c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e945d2c86c4c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49ef8de634ecb" /><Relationship Type="http://schemas.openxmlformats.org/officeDocument/2006/relationships/image" Target="/ppt/media/image.png" Id="R554ec2c00d2f4eb1" /><Relationship Type="http://schemas.openxmlformats.org/officeDocument/2006/relationships/notesSlide" Target="/ppt/notesSlides/notesSlide1.xml" Id="R92bf3911e8ea4d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58335632f4ef6" /><Relationship Type="http://schemas.openxmlformats.org/officeDocument/2006/relationships/notesSlide" Target="/ppt/notesSlides/notesSlide2.xml" Id="R87c2822c6bee4c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0ec2607f34495" /><Relationship Type="http://schemas.openxmlformats.org/officeDocument/2006/relationships/notesSlide" Target="/ppt/notesSlides/notesSlide3.xml" Id="Ra6fbe4c0a88149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a123eeebe4f9a" /><Relationship Type="http://schemas.openxmlformats.org/officeDocument/2006/relationships/notesSlide" Target="/ppt/notesSlides/notesSlide4.xml" Id="Rfe624b41ef1f42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1bdb6e941464f" /><Relationship Type="http://schemas.openxmlformats.org/officeDocument/2006/relationships/image" Target="/ppt/media/image.jpeg" Id="R3dd0eeda70524697" /><Relationship Type="http://schemas.openxmlformats.org/officeDocument/2006/relationships/notesSlide" Target="/ppt/notesSlides/notesSlide5.xml" Id="R1f9b8c3828d04f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1a141825d4a95" /><Relationship Type="http://schemas.openxmlformats.org/officeDocument/2006/relationships/notesSlide" Target="/ppt/notesSlides/notesSlide6.xml" Id="Rab5aca94726147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30fc876ae436f" /><Relationship Type="http://schemas.openxmlformats.org/officeDocument/2006/relationships/notesSlide" Target="/ppt/notesSlides/notesSlide7.xml" Id="R23fca120f3f943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432d9eb7646d5" /><Relationship Type="http://schemas.openxmlformats.org/officeDocument/2006/relationships/notesSlide" Target="/ppt/notesSlides/notesSlide8.xml" Id="R6a3fc5156d6145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11161bda7483e" /><Relationship Type="http://schemas.openxmlformats.org/officeDocument/2006/relationships/notesSlide" Target="/ppt/notesSlides/notesSlide9.xml" Id="Rf3312ea14ec641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4eb5906dc4418" /><Relationship Type="http://schemas.openxmlformats.org/officeDocument/2006/relationships/notesSlide" Target="/ppt/notesSlides/notesSlide10.xml" Id="Rac131b145ccd45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f3ed6b3444d52" /><Relationship Type="http://schemas.openxmlformats.org/officeDocument/2006/relationships/notesSlide" Target="/ppt/notesSlides/notesSlide11.xml" Id="R1244b1dad40043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2f483497449fc" /><Relationship Type="http://schemas.openxmlformats.org/officeDocument/2006/relationships/notesSlide" Target="/ppt/notesSlides/notesSlide12.xml" Id="R1fbb0c44bf854c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046df848b4ebe" /><Relationship Type="http://schemas.openxmlformats.org/officeDocument/2006/relationships/notesSlide" Target="/ppt/notesSlides/notesSlide13.xml" Id="R72220e96729442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932149a174a0e" /><Relationship Type="http://schemas.openxmlformats.org/officeDocument/2006/relationships/notesSlide" Target="/ppt/notesSlides/notesSlide14.xml" Id="Red6f06ca51ac4b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7bba33c6a421a" /><Relationship Type="http://schemas.openxmlformats.org/officeDocument/2006/relationships/chart" Target="/ppt/slides/charts/chart1.xml" Id="R0b7df3401b92490b" /><Relationship Type="http://schemas.openxmlformats.org/officeDocument/2006/relationships/notesSlide" Target="/ppt/notesSlides/notesSlide15.xml" Id="Rc2a3b45be1f547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360fc26664d9f" /><Relationship Type="http://schemas.openxmlformats.org/officeDocument/2006/relationships/notesSlide" Target="/ppt/notesSlides/notesSlide16.xml" Id="Rb1c51afbd76e427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Пройденные тесты</c:v>
          </c:tx>
          <c:spPr>
            <a:solidFill xmlns:a="http://schemas.openxmlformats.org/drawingml/2006/main">
              <a:srgbClr val="127663"/>
            </a:solidFill>
          </c:spPr>
          <c:cat>
            <c:strRef>
              <c:f>'Chart Data'!$A$2:$A$5</c:f>
              <c:strCache>
                <c:ptCount val="4"/>
                <c:pt idx="0">
                  <c:v>Чтение и интерфейс</c:v>
                </c:pt>
                <c:pt idx="1">
                  <c:v>AI и аудио</c:v>
                </c:pt>
                <c:pt idx="2">
                  <c:v>Вопросы и контекст</c:v>
                </c:pt>
                <c:pt idx="3">
                  <c:v>Остальные сценарии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21</c:v>
                </c:pt>
                <c:pt idx="1">
                  <c:v>13</c:v>
                </c:pt>
                <c:pt idx="2">
                  <c:v>6</c:v>
                </c:pt>
                <c:pt idx="3">
                  <c:v>14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02D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3ED"/>
        </a:solidFill>
      </c:spPr>
    </c:plotArea>
    <c:plotVisOnly val="1"/>
  </c:chart>
  <c:spPr>
    <a:solidFill xmlns:a="http://schemas.openxmlformats.org/drawingml/2006/main">
      <a:srgbClr val="F4F3ED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vtw303-0.8127693442517064">
            <a:extLst xmlns:a="http://schemas.openxmlformats.org/drawingml/2006/main">
              <a:ext uri="{FF2B5EF4-FFF2-40B4-BE49-F238E27FC236}">
                <a16:creationId xmlns:a16="http://schemas.microsoft.com/office/drawing/2014/main" id="{7969DEAC-D6D8-4CA0-B574-671560A7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ec2c00d2f4eb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-vtw303-1">
            <a:extLst xmlns:a="http://schemas.openxmlformats.org/drawingml/2006/main">
              <a:ext uri="{FF2B5EF4-FFF2-40B4-BE49-F238E27FC236}">
                <a16:creationId xmlns:a16="http://schemas.microsoft.com/office/drawing/2014/main" id="{01BDF767-750B-42D9-8350-0AE7E489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AI-АССИСТЕНТ ДЛЯ ТЕХНИЧЕСКИХ РАЗГОВОРОВ</a:t>
            </a:r>
          </a:p>
        </p:txBody>
      </p:sp>
      <p:sp>
        <p:nvSpPr>
          <p:cNvPr id="4" name="text-vtw303-2">
            <a:extLst xmlns:a="http://schemas.openxmlformats.org/drawingml/2006/main">
              <a:ext uri="{FF2B5EF4-FFF2-40B4-BE49-F238E27FC236}">
                <a16:creationId xmlns:a16="http://schemas.microsoft.com/office/drawing/2014/main" id="{EBD51370-ADAE-40B8-8A49-372E2329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Cheating</a:t>
            </a:r>
          </a:p>
          <a:p xmlns:a="http://schemas.openxmlformats.org/drawingml/2006/main">
            <a:pPr>
              <a:defRPr sz="72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Daddy</a:t>
            </a:r>
          </a:p>
        </p:txBody>
      </p:sp>
      <p:sp>
        <p:nvSpPr>
          <p:cNvPr id="5" name="text-vtw303-3">
            <a:extLst xmlns:a="http://schemas.openxmlformats.org/drawingml/2006/main">
              <a:ext uri="{FF2B5EF4-FFF2-40B4-BE49-F238E27FC236}">
                <a16:creationId xmlns:a16="http://schemas.microsoft.com/office/drawing/2014/main" id="{3A57C6F2-CAAC-4F3E-82C7-CC8DC24E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00575"/>
            <a:ext cx="609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Вопросы, контекст и ответы</a:t>
            </a:r>
          </a:p>
          <a:p xmlns:a="http://schemas.openxmlformats.org/drawingml/2006/main">
            <a:pPr>
              <a:defRPr sz="2400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в удобном темпе разговора</a:t>
            </a:r>
          </a:p>
        </p:txBody>
      </p:sp>
      <p:sp>
        <p:nvSpPr>
          <p:cNvPr id="6" name="text-vtw303-4">
            <a:extLst xmlns:a="http://schemas.openxmlformats.org/drawingml/2006/main">
              <a:ext uri="{FF2B5EF4-FFF2-40B4-BE49-F238E27FC236}">
                <a16:creationId xmlns:a16="http://schemas.microsoft.com/office/drawing/2014/main" id="{1D3E4C94-8C9E-41A5-8F86-3AD487BB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817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Обзор возможностей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4112280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qgwv2v-0.6913310136305888">
            <a:extLst xmlns:a="http://schemas.openxmlformats.org/drawingml/2006/main">
              <a:ext uri="{FF2B5EF4-FFF2-40B4-BE49-F238E27FC236}">
                <a16:creationId xmlns:a16="http://schemas.microsoft.com/office/drawing/2014/main" id="{30B1B8B7-0EEF-4E5A-BE99-C285CC91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Ответ остаётся перед глазами</a:t>
            </a:r>
          </a:p>
        </p:txBody>
      </p:sp>
      <p:sp>
        <p:nvSpPr>
          <p:cNvPr id="2" name="text-qgwv2v-1">
            <a:extLst xmlns:a="http://schemas.openxmlformats.org/drawingml/2006/main">
              <a:ext uri="{FF2B5EF4-FFF2-40B4-BE49-F238E27FC236}">
                <a16:creationId xmlns:a16="http://schemas.microsoft.com/office/drawing/2014/main" id="{2CA0E62C-062A-4B3B-9BA5-0360C60C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qgwv2v-2">
            <a:extLst xmlns:a="http://schemas.openxmlformats.org/drawingml/2006/main">
              <a:ext uri="{FF2B5EF4-FFF2-40B4-BE49-F238E27FC236}">
                <a16:creationId xmlns:a16="http://schemas.microsoft.com/office/drawing/2014/main" id="{215450F5-9C69-4A7C-BF8B-CC5135F8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Собеседник продолжает говорить.</a:t>
            </a:r>
          </a:p>
          <a:p xmlns:a="http://schemas.openxmlformats.org/drawingml/2006/main">
            <a:pPr>
              <a:defRPr sz="22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Вы спокойно дочитываете текущий ответ.</a:t>
            </a:r>
          </a:p>
        </p:txBody>
      </p:sp>
      <p:sp>
        <p:nvSpPr>
          <p:cNvPr id="4" name="text-qgwv2v-3">
            <a:extLst xmlns:a="http://schemas.openxmlformats.org/drawingml/2006/main">
              <a:ext uri="{FF2B5EF4-FFF2-40B4-BE49-F238E27FC236}">
                <a16:creationId xmlns:a16="http://schemas.microsoft.com/office/drawing/2014/main" id="{9473B14F-8323-445A-9E61-2F23664B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РАЗГОВОР</a:t>
            </a:r>
          </a:p>
        </p:txBody>
      </p:sp>
      <p:sp>
        <p:nvSpPr>
          <p:cNvPr id="5" name="text-qgwv2v-4">
            <a:extLst xmlns:a="http://schemas.openxmlformats.org/drawingml/2006/main">
              <a:ext uri="{FF2B5EF4-FFF2-40B4-BE49-F238E27FC236}">
                <a16:creationId xmlns:a16="http://schemas.microsoft.com/office/drawing/2014/main" id="{5F8412F7-6AF3-4398-80E9-29C0B426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ВАШ ЭКРАН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197A0-2BFE-4178-962B-84765ADE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62250"/>
            <a:ext cx="25146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Вопрос про 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1157B-1FC4-42AC-9000-F077559A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62250"/>
            <a:ext cx="25146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Уточнение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2CF74-96EB-4861-9F98-4E4936E8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62250"/>
            <a:ext cx="28575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Вопрос про Kafka</a:t>
            </a:r>
          </a:p>
        </p:txBody>
      </p: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53025" y="3119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143875" y="3119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6F6F7-31B5-4FFE-91DA-33A62281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191000"/>
            <a:ext cx="55054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Текущий ответ остаётся выбранным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54B8A-F131-4A51-8848-F0578ECD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91000"/>
            <a:ext cx="2857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Новые вопросы</a:t>
            </a:r>
          </a:p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ждут в очереди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143875" y="4643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4" name="text-qgwv2v-13">
            <a:extLst xmlns:a="http://schemas.openxmlformats.org/drawingml/2006/main">
              <a:ext uri="{FF2B5EF4-FFF2-40B4-BE49-F238E27FC236}">
                <a16:creationId xmlns:a16="http://schemas.microsoft.com/office/drawing/2014/main" id="{0F857784-135B-4FC7-B4DA-59FF635A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391150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Пауза останавливает обработку нового аудио. Текстовые вопросы и скриншоты остаются доступны.</a:t>
            </a:r>
          </a:p>
        </p:txBody>
      </p:sp>
    </p:spTree>
    <p:extLst>
      <p:ext uri="{BB962C8B-B14F-4D97-AF65-F5344CB8AC3E}">
        <p14:creationId xmlns:p14="http://schemas.microsoft.com/office/powerpoint/2010/main" val="1608843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ok8rzg-0.6459898194672905">
            <a:extLst xmlns:a="http://schemas.openxmlformats.org/drawingml/2006/main">
              <a:ext uri="{FF2B5EF4-FFF2-40B4-BE49-F238E27FC236}">
                <a16:creationId xmlns:a16="http://schemas.microsoft.com/office/drawing/2014/main" id="{E424078C-55F8-4AA8-BDBA-3E547219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Один рабочий цикл</a:t>
            </a:r>
          </a:p>
        </p:txBody>
      </p:sp>
      <p:sp>
        <p:nvSpPr>
          <p:cNvPr id="2" name="text-ok8rzg-1">
            <a:extLst xmlns:a="http://schemas.openxmlformats.org/drawingml/2006/main">
              <a:ext uri="{FF2B5EF4-FFF2-40B4-BE49-F238E27FC236}">
                <a16:creationId xmlns:a16="http://schemas.microsoft.com/office/drawing/2014/main" id="{274AE41C-F1F5-4073-A141-6D8C4DB2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ok8rzg-2">
            <a:extLst xmlns:a="http://schemas.openxmlformats.org/drawingml/2006/main">
              <a:ext uri="{FF2B5EF4-FFF2-40B4-BE49-F238E27FC236}">
                <a16:creationId xmlns:a16="http://schemas.microsoft.com/office/drawing/2014/main" id="{A7FE524B-C0F0-47AB-8F88-F5738367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ok8rzg-3">
            <a:extLst xmlns:a="http://schemas.openxmlformats.org/drawingml/2006/main">
              <a:ext uri="{FF2B5EF4-FFF2-40B4-BE49-F238E27FC236}">
                <a16:creationId xmlns:a16="http://schemas.microsoft.com/office/drawing/2014/main" id="{9B0CC760-C5C0-4D39-AC5D-91CEEE5D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До разговора</a:t>
            </a:r>
          </a:p>
        </p:txBody>
      </p:sp>
      <p:sp>
        <p:nvSpPr>
          <p:cNvPr id="5" name="text-ok8rzg-4">
            <a:extLst xmlns:a="http://schemas.openxmlformats.org/drawingml/2006/main">
              <a:ext uri="{FF2B5EF4-FFF2-40B4-BE49-F238E27FC236}">
                <a16:creationId xmlns:a16="http://schemas.microsoft.com/office/drawing/2014/main" id="{869A3A15-A84D-4C3E-B6C9-79AAD077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3238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Материалы вакансии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Профиль инструкций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Проверка готовности</a:t>
            </a:r>
          </a:p>
        </p:txBody>
      </p:sp>
      <p:sp>
        <p:nvSpPr>
          <p:cNvPr id="6" name="text-ok8rzg-5">
            <a:extLst xmlns:a="http://schemas.openxmlformats.org/drawingml/2006/main">
              <a:ext uri="{FF2B5EF4-FFF2-40B4-BE49-F238E27FC236}">
                <a16:creationId xmlns:a16="http://schemas.microsoft.com/office/drawing/2014/main" id="{58884157-CC8A-4124-849C-DA891E54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-ok8rzg-6">
            <a:extLst xmlns:a="http://schemas.openxmlformats.org/drawingml/2006/main">
              <a:ext uri="{FF2B5EF4-FFF2-40B4-BE49-F238E27FC236}">
                <a16:creationId xmlns:a16="http://schemas.microsoft.com/office/drawing/2014/main" id="{A8E6D482-9E87-4F8D-B40F-A05CA76A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Во время</a:t>
            </a:r>
          </a:p>
        </p:txBody>
      </p:sp>
      <p:sp>
        <p:nvSpPr>
          <p:cNvPr id="8" name="text-ok8rzg-7">
            <a:extLst xmlns:a="http://schemas.openxmlformats.org/drawingml/2006/main">
              <a:ext uri="{FF2B5EF4-FFF2-40B4-BE49-F238E27FC236}">
                <a16:creationId xmlns:a16="http://schemas.microsoft.com/office/drawing/2014/main" id="{DABCFE85-F221-4AAE-A4F4-4B9B4BB9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57675"/>
            <a:ext cx="3238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Распознанные вопросы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Ответы и уточнения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Код, скриншоты и схемы</a:t>
            </a:r>
          </a:p>
        </p:txBody>
      </p:sp>
      <p:sp>
        <p:nvSpPr>
          <p:cNvPr id="9" name="text-ok8rzg-8">
            <a:extLst xmlns:a="http://schemas.openxmlformats.org/drawingml/2006/main">
              <a:ext uri="{FF2B5EF4-FFF2-40B4-BE49-F238E27FC236}">
                <a16:creationId xmlns:a16="http://schemas.microsoft.com/office/drawing/2014/main" id="{0B68F015-4EAB-4F37-A19C-BB84EC2C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90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-ok8rzg-9">
            <a:extLst xmlns:a="http://schemas.openxmlformats.org/drawingml/2006/main">
              <a:ext uri="{FF2B5EF4-FFF2-40B4-BE49-F238E27FC236}">
                <a16:creationId xmlns:a16="http://schemas.microsoft.com/office/drawing/2014/main" id="{21202CFC-979F-4323-AC56-B5DEADDA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24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После</a:t>
            </a:r>
          </a:p>
        </p:txBody>
      </p:sp>
      <p:sp>
        <p:nvSpPr>
          <p:cNvPr id="11" name="text-ok8rzg-10">
            <a:extLst xmlns:a="http://schemas.openxmlformats.org/drawingml/2006/main">
              <a:ext uri="{FF2B5EF4-FFF2-40B4-BE49-F238E27FC236}">
                <a16:creationId xmlns:a16="http://schemas.microsoft.com/office/drawing/2014/main" id="{C41B645B-01ED-47EE-80A3-11EBB3AA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57675"/>
            <a:ext cx="3238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Сохранённая история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Темы для перепроверки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План повторения</a:t>
            </a:r>
          </a:p>
        </p:txBody>
      </p:sp>
    </p:spTree>
    <p:extLst>
      <p:ext uri="{BB962C8B-B14F-4D97-AF65-F5344CB8AC3E}">
        <p14:creationId xmlns:p14="http://schemas.microsoft.com/office/powerpoint/2010/main" val="634925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urvxyh-0.6022611228789465">
            <a:extLst xmlns:a="http://schemas.openxmlformats.org/drawingml/2006/main">
              <a:ext uri="{FF2B5EF4-FFF2-40B4-BE49-F238E27FC236}">
                <a16:creationId xmlns:a16="http://schemas.microsoft.com/office/drawing/2014/main" id="{E69396DA-EF21-4966-B47A-E41FC6C7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Из реплик получается вопрос</a:t>
            </a:r>
          </a:p>
        </p:txBody>
      </p:sp>
      <p:sp>
        <p:nvSpPr>
          <p:cNvPr id="2" name="text-urvxyh-1">
            <a:extLst xmlns:a="http://schemas.openxmlformats.org/drawingml/2006/main">
              <a:ext uri="{FF2B5EF4-FFF2-40B4-BE49-F238E27FC236}">
                <a16:creationId xmlns:a16="http://schemas.microsoft.com/office/drawing/2014/main" id="{728EA5E1-2990-4A7A-A11B-89371E6C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4FD7F-3930-4242-B21B-C200199F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4572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«Расскажи про индексы…»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676BD-28A4-41D7-B0BB-04642258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4572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«…и почему PostgreSQL</a:t>
            </a:r>
          </a:p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иногда их не использует?»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E32A3-48F3-47BB-BA76-E5F94DD9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523875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Один редактируемый вопрос</a:t>
            </a:r>
          </a:p>
        </p:txBody>
      </p:sp>
      <p:cxnSp>
        <p:nvCxnSpPr>
          <p:cNvPr id="16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181600" y="2333625"/>
            <a:ext cx="1009650" cy="7191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5181600" y="3052763"/>
            <a:ext cx="1009650" cy="595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8" name="text-urvxyh-7">
            <a:extLst xmlns:a="http://schemas.openxmlformats.org/drawingml/2006/main">
              <a:ext uri="{FF2B5EF4-FFF2-40B4-BE49-F238E27FC236}">
                <a16:creationId xmlns:a16="http://schemas.microsoft.com/office/drawing/2014/main" id="{902309C6-DCA8-42AB-A36C-B9675BF5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9815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Связанные реплики собираются вместе.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Короткие подтверждения вроде «угу»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«понятно» не запускают ответ.</a:t>
            </a:r>
          </a:p>
        </p:txBody>
      </p:sp>
      <p:sp>
        <p:nvSpPr>
          <p:cNvPr id="9" name="text-urvxyh-8">
            <a:extLst xmlns:a="http://schemas.openxmlformats.org/drawingml/2006/main">
              <a:ext uri="{FF2B5EF4-FFF2-40B4-BE49-F238E27FC236}">
                <a16:creationId xmlns:a16="http://schemas.microsoft.com/office/drawing/2014/main" id="{A33187F8-8371-4B1F-B390-624A2EF1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Вы выбираете момент ответа</a:t>
            </a:r>
          </a:p>
        </p:txBody>
      </p:sp>
      <p:sp>
        <p:nvSpPr>
          <p:cNvPr id="10" name="text-urvxyh-9">
            <a:extLst xmlns:a="http://schemas.openxmlformats.org/drawingml/2006/main">
              <a:ext uri="{FF2B5EF4-FFF2-40B4-BE49-F238E27FC236}">
                <a16:creationId xmlns:a16="http://schemas.microsoft.com/office/drawing/2014/main" id="{1530C034-55E0-41A2-BDBA-A35EDF90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62525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Проверьте формулировку, поправьте текст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подтвердите отправку модели.</a:t>
            </a:r>
          </a:p>
        </p:txBody>
      </p:sp>
    </p:spTree>
    <p:extLst>
      <p:ext uri="{BB962C8B-B14F-4D97-AF65-F5344CB8AC3E}">
        <p14:creationId xmlns:p14="http://schemas.microsoft.com/office/powerpoint/2010/main" val="5895379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detzh-0.5537189063052194">
            <a:extLst xmlns:a="http://schemas.openxmlformats.org/drawingml/2006/main">
              <a:ext uri="{FF2B5EF4-FFF2-40B4-BE49-F238E27FC236}">
                <a16:creationId xmlns:a16="http://schemas.microsoft.com/office/drawing/2014/main" id="{F54869B6-4947-4712-B5AF-B9B3DE09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Интерфейс для чтения</a:t>
            </a:r>
          </a:p>
        </p:txBody>
      </p:sp>
      <p:sp>
        <p:nvSpPr>
          <p:cNvPr id="2" name="text-1detzh-1">
            <a:extLst xmlns:a="http://schemas.openxmlformats.org/drawingml/2006/main">
              <a:ext uri="{FF2B5EF4-FFF2-40B4-BE49-F238E27FC236}">
                <a16:creationId xmlns:a16="http://schemas.microsoft.com/office/drawing/2014/main" id="{4A5F1CA8-8304-42A2-9B47-12BF1520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0eeda70524697"/>
          <a:stretch xmlns:a="http://schemas.openxmlformats.org/drawingml/2006/main"/>
        </p:blipFill>
        <p:spPr>
          <a:xfrm xmlns:a="http://schemas.openxmlformats.org/drawingml/2006/main">
            <a:off x="609600" y="2014240"/>
            <a:ext cx="7096125" cy="3991570"/>
          </a:xfrm>
          <a:prstGeom xmlns:a="http://schemas.openxmlformats.org/drawingml/2006/main" prst="rect">
            <a:avLst/>
          </a:prstGeom>
        </p:spPr>
      </p:pic>
      <p:sp>
        <p:nvSpPr>
          <p:cNvPr id="4" name="text-1detzh-2">
            <a:extLst xmlns:a="http://schemas.openxmlformats.org/drawingml/2006/main">
              <a:ext uri="{FF2B5EF4-FFF2-40B4-BE49-F238E27FC236}">
                <a16:creationId xmlns:a16="http://schemas.microsoft.com/office/drawing/2014/main" id="{608D685C-A1CB-4A35-9A07-E384DE6C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Крупный ответ</a:t>
            </a:r>
          </a:p>
        </p:txBody>
      </p:sp>
      <p:sp>
        <p:nvSpPr>
          <p:cNvPr id="5" name="text-1detzh-3">
            <a:extLst xmlns:a="http://schemas.openxmlformats.org/drawingml/2006/main">
              <a:ext uri="{FF2B5EF4-FFF2-40B4-BE49-F238E27FC236}">
                <a16:creationId xmlns:a16="http://schemas.microsoft.com/office/drawing/2014/main" id="{89454B99-7E31-49D4-A8DD-B2F7CB1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19350"/>
            <a:ext cx="3362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Режим «Только ответ»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скрывает служебные панели.</a:t>
            </a:r>
          </a:p>
        </p:txBody>
      </p:sp>
      <p:sp>
        <p:nvSpPr>
          <p:cNvPr id="6" name="text-1detzh-4">
            <a:extLst xmlns:a="http://schemas.openxmlformats.org/drawingml/2006/main">
              <a:ext uri="{FF2B5EF4-FFF2-40B4-BE49-F238E27FC236}">
                <a16:creationId xmlns:a16="http://schemas.microsoft.com/office/drawing/2014/main" id="{3D385A65-5374-41C4-AE6C-2BF87F7B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Текст под вас</a:t>
            </a:r>
          </a:p>
        </p:txBody>
      </p:sp>
      <p:sp>
        <p:nvSpPr>
          <p:cNvPr id="7" name="text-1detzh-5">
            <a:extLst xmlns:a="http://schemas.openxmlformats.org/drawingml/2006/main">
              <a:ext uri="{FF2B5EF4-FFF2-40B4-BE49-F238E27FC236}">
                <a16:creationId xmlns:a16="http://schemas.microsoft.com/office/drawing/2014/main" id="{7A3FF0D9-CE09-4F8C-BBCD-B8146115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43375"/>
            <a:ext cx="336232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A− и A+ меняют шрифт.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Код получает подсветку,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таблицы сохраняют структуру.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Есть горячие клавиши.</a:t>
            </a:r>
          </a:p>
        </p:txBody>
      </p:sp>
      <p:sp>
        <p:nvSpPr>
          <p:cNvPr id="8" name="text-1detzh-6">
            <a:extLst xmlns:a="http://schemas.openxmlformats.org/drawingml/2006/main">
              <a:ext uri="{FF2B5EF4-FFF2-40B4-BE49-F238E27FC236}">
                <a16:creationId xmlns:a16="http://schemas.microsoft.com/office/drawing/2014/main" id="{956DD17F-674F-4B24-A8E6-4803205E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7AEA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7AEAB"/>
                </a:solidFill>
                <a:latin typeface="Arial"/>
                <a:ea typeface="Arial"/>
                <a:cs typeface="Arial"/>
              </a:rPr>
              <a:t>Интерфейс с демонстрационным ответом</a:t>
            </a:r>
          </a:p>
        </p:txBody>
      </p:sp>
    </p:spTree>
    <p:extLst>
      <p:ext uri="{BB962C8B-B14F-4D97-AF65-F5344CB8AC3E}">
        <p14:creationId xmlns:p14="http://schemas.microsoft.com/office/powerpoint/2010/main" val="1736887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xapiq1-0.9961332632256821">
            <a:extLst xmlns:a="http://schemas.openxmlformats.org/drawingml/2006/main">
              <a:ext uri="{FF2B5EF4-FFF2-40B4-BE49-F238E27FC236}">
                <a16:creationId xmlns:a16="http://schemas.microsoft.com/office/drawing/2014/main" id="{01CD7B85-5325-4CB5-93F0-B6792862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Глубина ответа под ситуацию</a:t>
            </a:r>
          </a:p>
        </p:txBody>
      </p:sp>
      <p:sp>
        <p:nvSpPr>
          <p:cNvPr id="2" name="text-xapiq1-1">
            <a:extLst xmlns:a="http://schemas.openxmlformats.org/drawingml/2006/main">
              <a:ext uri="{FF2B5EF4-FFF2-40B4-BE49-F238E27FC236}">
                <a16:creationId xmlns:a16="http://schemas.microsoft.com/office/drawing/2014/main" id="{14413C5D-A181-45FF-B52D-0952E452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-xapiq1-2">
            <a:extLst xmlns:a="http://schemas.openxmlformats.org/drawingml/2006/main">
              <a:ext uri="{FF2B5EF4-FFF2-40B4-BE49-F238E27FC236}">
                <a16:creationId xmlns:a16="http://schemas.microsoft.com/office/drawing/2014/main" id="{AA4DEE79-AAB1-4240-BD17-A09AB0FD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xapiq1-3">
            <a:extLst xmlns:a="http://schemas.openxmlformats.org/drawingml/2006/main">
              <a:ext uri="{FF2B5EF4-FFF2-40B4-BE49-F238E27FC236}">
                <a16:creationId xmlns:a16="http://schemas.microsoft.com/office/drawing/2014/main" id="{60066908-EB77-427E-BECB-47D09B67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962150"/>
            <a:ext cx="3810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Короткий ответ</a:t>
            </a:r>
          </a:p>
        </p:txBody>
      </p:sp>
      <p:sp>
        <p:nvSpPr>
          <p:cNvPr id="5" name="text-xapiq1-4">
            <a:extLst xmlns:a="http://schemas.openxmlformats.org/drawingml/2006/main">
              <a:ext uri="{FF2B5EF4-FFF2-40B4-BE49-F238E27FC236}">
                <a16:creationId xmlns:a16="http://schemas.microsoft.com/office/drawing/2014/main" id="{36F7220E-2745-4973-9F96-E97B9B27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Главная мысль в нескольких предложениях.</a:t>
            </a:r>
          </a:p>
        </p:txBody>
      </p:sp>
      <p:sp>
        <p:nvSpPr>
          <p:cNvPr id="6" name="text-xapiq1-5">
            <a:extLst xmlns:a="http://schemas.openxmlformats.org/drawingml/2006/main">
              <a:ext uri="{FF2B5EF4-FFF2-40B4-BE49-F238E27FC236}">
                <a16:creationId xmlns:a16="http://schemas.microsoft.com/office/drawing/2014/main" id="{E08DD4C0-83D9-4FAD-9F32-592A5BD2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-xapiq1-6">
            <a:extLst xmlns:a="http://schemas.openxmlformats.org/drawingml/2006/main">
              <a:ext uri="{FF2B5EF4-FFF2-40B4-BE49-F238E27FC236}">
                <a16:creationId xmlns:a16="http://schemas.microsoft.com/office/drawing/2014/main" id="{843ABD69-772A-453A-BD08-2B432EF4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95625"/>
            <a:ext cx="3810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Объяснение</a:t>
            </a:r>
          </a:p>
        </p:txBody>
      </p:sp>
      <p:sp>
        <p:nvSpPr>
          <p:cNvPr id="8" name="text-xapiq1-7">
            <a:extLst xmlns:a="http://schemas.openxmlformats.org/drawingml/2006/main">
              <a:ext uri="{FF2B5EF4-FFF2-40B4-BE49-F238E27FC236}">
                <a16:creationId xmlns:a16="http://schemas.microsoft.com/office/drawing/2014/main" id="{2110430B-AEAE-4C54-9F65-33B33C1B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33725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Логика решения, отличия и важные условия.</a:t>
            </a:r>
          </a:p>
        </p:txBody>
      </p:sp>
      <p:sp>
        <p:nvSpPr>
          <p:cNvPr id="9" name="text-xapiq1-8">
            <a:extLst xmlns:a="http://schemas.openxmlformats.org/drawingml/2006/main">
              <a:ext uri="{FF2B5EF4-FFF2-40B4-BE49-F238E27FC236}">
                <a16:creationId xmlns:a16="http://schemas.microsoft.com/office/drawing/2014/main" id="{ED17F6C8-5AA4-4863-8A35-BF91A002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-xapiq1-9">
            <a:extLst xmlns:a="http://schemas.openxmlformats.org/drawingml/2006/main">
              <a:ext uri="{FF2B5EF4-FFF2-40B4-BE49-F238E27FC236}">
                <a16:creationId xmlns:a16="http://schemas.microsoft.com/office/drawing/2014/main" id="{3173A98D-39B4-4A9C-B5DC-38CBCEBD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29100"/>
            <a:ext cx="3810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Подробности</a:t>
            </a:r>
          </a:p>
        </p:txBody>
      </p:sp>
      <p:sp>
        <p:nvSpPr>
          <p:cNvPr id="11" name="text-xapiq1-10">
            <a:extLst xmlns:a="http://schemas.openxmlformats.org/drawingml/2006/main">
              <a:ext uri="{FF2B5EF4-FFF2-40B4-BE49-F238E27FC236}">
                <a16:creationId xmlns:a16="http://schemas.microsoft.com/office/drawing/2014/main" id="{B75EFC34-684D-4CA5-BDD6-9266BE29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6720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Пример, ограничения и детали реализации.</a:t>
            </a:r>
          </a:p>
        </p:txBody>
      </p:sp>
      <p:sp>
        <p:nvSpPr>
          <p:cNvPr id="12" name="text-xapiq1-11">
            <a:extLst xmlns:a="http://schemas.openxmlformats.org/drawingml/2006/main">
              <a:ext uri="{FF2B5EF4-FFF2-40B4-BE49-F238E27FC236}">
                <a16:creationId xmlns:a16="http://schemas.microsoft.com/office/drawing/2014/main" id="{3C679CC9-7F4D-44F6-BDD8-81A4D283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БЫСТРЫЕ УТОЧНЕНИЯ</a:t>
            </a:r>
          </a:p>
        </p:txBody>
      </p:sp>
      <p:sp>
        <p:nvSpPr>
          <p:cNvPr id="13" name="text-xapiq1-12">
            <a:extLst xmlns:a="http://schemas.openxmlformats.org/drawingml/2006/main">
              <a:ext uri="{FF2B5EF4-FFF2-40B4-BE49-F238E27FC236}">
                <a16:creationId xmlns:a16="http://schemas.microsoft.com/office/drawing/2014/main" id="{D9B5E958-7E7F-4913-B89A-4AAA8F4D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25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«Короче»     «Пример на Go»     «Почему?»     «Сравнить»</a:t>
            </a:r>
          </a:p>
        </p:txBody>
      </p:sp>
    </p:spTree>
    <p:extLst>
      <p:ext uri="{BB962C8B-B14F-4D97-AF65-F5344CB8AC3E}">
        <p14:creationId xmlns:p14="http://schemas.microsoft.com/office/powerpoint/2010/main" val="39972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hmruyn-0.9971636708874348">
            <a:extLst xmlns:a="http://schemas.openxmlformats.org/drawingml/2006/main">
              <a:ext uri="{FF2B5EF4-FFF2-40B4-BE49-F238E27FC236}">
                <a16:creationId xmlns:a16="http://schemas.microsoft.com/office/drawing/2014/main" id="{39BC2A37-5948-4C67-815C-5476853A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Уточнения сохраняют тему</a:t>
            </a:r>
          </a:p>
        </p:txBody>
      </p:sp>
      <p:sp>
        <p:nvSpPr>
          <p:cNvPr id="2" name="text-hmruyn-1">
            <a:extLst xmlns:a="http://schemas.openxmlformats.org/drawingml/2006/main">
              <a:ext uri="{FF2B5EF4-FFF2-40B4-BE49-F238E27FC236}">
                <a16:creationId xmlns:a16="http://schemas.microsoft.com/office/drawing/2014/main" id="{995F4C22-5D31-426C-B6F3-9CC67245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F7D3D-4AD7-441B-9B00-6D989837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2762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Каналы 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24BE4-7BFF-438B-9054-5705C386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14525"/>
            <a:ext cx="69913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«А если канал закрыт?»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0584D-EA69-4DBE-A8F6-71F9AF98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69913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«Почему отправка блокируется?»</a:t>
            </a:r>
          </a:p>
        </p:txBody>
      </p:sp>
      <p:cxnSp>
        <p:nvCxnSpPr>
          <p:cNvPr id="1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371850" y="2319338"/>
            <a:ext cx="1066800" cy="385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71850" y="2705100"/>
            <a:ext cx="1066800" cy="8429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15D2B-44C0-404E-B9D4-D32A8306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762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7C690-7AD3-4EAC-BC5D-87A2CE80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19650"/>
            <a:ext cx="69913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Отдельная тема и свои уточнения</a:t>
            </a:r>
          </a:p>
        </p:txBody>
      </p:sp>
      <p:cxnSp>
        <p:nvCxnSpPr>
          <p:cNvPr id="2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71850" y="526732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1" name="text-hmruyn-10">
            <a:extLst xmlns:a="http://schemas.openxmlformats.org/drawingml/2006/main">
              <a:ext uri="{FF2B5EF4-FFF2-40B4-BE49-F238E27FC236}">
                <a16:creationId xmlns:a16="http://schemas.microsoft.com/office/drawing/2014/main" id="{B69E5C13-DF8E-47D2-84B0-0065B862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Темы можно объединять, разделять и удалять. Для отдельного запроса есть новая карточка.</a:t>
            </a:r>
          </a:p>
        </p:txBody>
      </p:sp>
    </p:spTree>
    <p:extLst>
      <p:ext uri="{BB962C8B-B14F-4D97-AF65-F5344CB8AC3E}">
        <p14:creationId xmlns:p14="http://schemas.microsoft.com/office/powerpoint/2010/main" val="3174770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eebsfh-0.7566809451734808">
            <a:extLst xmlns:a="http://schemas.openxmlformats.org/drawingml/2006/main">
              <a:ext uri="{FF2B5EF4-FFF2-40B4-BE49-F238E27FC236}">
                <a16:creationId xmlns:a16="http://schemas.microsoft.com/office/drawing/2014/main" id="{89B20AE0-0BD0-463D-B520-A7349965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Ответы с учётом вашего опыта</a:t>
            </a:r>
          </a:p>
        </p:txBody>
      </p:sp>
      <p:sp>
        <p:nvSpPr>
          <p:cNvPr id="2" name="text-eebsfh-1">
            <a:extLst xmlns:a="http://schemas.openxmlformats.org/drawingml/2006/main">
              <a:ext uri="{FF2B5EF4-FFF2-40B4-BE49-F238E27FC236}">
                <a16:creationId xmlns:a16="http://schemas.microsoft.com/office/drawing/2014/main" id="{5EE5A58D-EA6A-4434-ABE5-481E1BDB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-eebsfh-2">
            <a:extLst xmlns:a="http://schemas.openxmlformats.org/drawingml/2006/main">
              <a:ext uri="{FF2B5EF4-FFF2-40B4-BE49-F238E27FC236}">
                <a16:creationId xmlns:a16="http://schemas.microsoft.com/office/drawing/2014/main" id="{E3AD34AA-BF60-4546-90A2-6C079400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4" name="text-eebsfh-3">
            <a:extLst xmlns:a="http://schemas.openxmlformats.org/drawingml/2006/main">
              <a:ext uri="{FF2B5EF4-FFF2-40B4-BE49-F238E27FC236}">
                <a16:creationId xmlns:a16="http://schemas.microsoft.com/office/drawing/2014/main" id="{B6D59476-66A5-47FE-AC40-7BEEC6FF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Ваши материалы</a:t>
            </a:r>
          </a:p>
        </p:txBody>
      </p:sp>
      <p:sp>
        <p:nvSpPr>
          <p:cNvPr id="5" name="text-eebsfh-4">
            <a:extLst xmlns:a="http://schemas.openxmlformats.org/drawingml/2006/main">
              <a:ext uri="{FF2B5EF4-FFF2-40B4-BE49-F238E27FC236}">
                <a16:creationId xmlns:a16="http://schemas.microsoft.com/office/drawing/2014/main" id="{D8EA7DE4-EB0E-4EB5-8195-3A8F773C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49625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Резюме, описание вакансии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реальные истории проектов.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Импорт PDF с текстом, DOCX, TXT, MD.</a:t>
            </a:r>
          </a:p>
        </p:txBody>
      </p:sp>
      <p:sp>
        <p:nvSpPr>
          <p:cNvPr id="6" name="text-eebsfh-5">
            <a:extLst xmlns:a="http://schemas.openxmlformats.org/drawingml/2006/main">
              <a:ext uri="{FF2B5EF4-FFF2-40B4-BE49-F238E27FC236}">
                <a16:creationId xmlns:a16="http://schemas.microsoft.com/office/drawing/2014/main" id="{615907BA-6B30-41D1-9DC9-5060C993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AI CUSTOMIZATION</a:t>
            </a:r>
          </a:p>
        </p:txBody>
      </p:sp>
      <p:sp>
        <p:nvSpPr>
          <p:cNvPr id="7" name="text-eebsfh-6">
            <a:extLst xmlns:a="http://schemas.openxmlformats.org/drawingml/2006/main">
              <a:ext uri="{FF2B5EF4-FFF2-40B4-BE49-F238E27FC236}">
                <a16:creationId xmlns:a16="http://schemas.microsoft.com/office/drawing/2014/main" id="{953F236D-7CBD-4F53-961B-64E4E4AD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812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Ваши инструкции</a:t>
            </a:r>
          </a:p>
        </p:txBody>
      </p:sp>
      <p:sp>
        <p:nvSpPr>
          <p:cNvPr id="8" name="text-eebsfh-7">
            <a:extLst xmlns:a="http://schemas.openxmlformats.org/drawingml/2006/main">
              <a:ext uri="{FF2B5EF4-FFF2-40B4-BE49-F238E27FC236}">
                <a16:creationId xmlns:a16="http://schemas.microsoft.com/office/drawing/2014/main" id="{C99BB25D-A6F5-4B89-870F-434CD4BA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67025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Создание, редактирование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удаление профилей.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Стиль и глубина ответа под задачу.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865C5-BFBC-4FCE-B293-E1B5AB48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496252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Релевантные фрагменты опыта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11351-5C3C-4B64-A717-48A37DF0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0"/>
            <a:ext cx="49530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Профиль и дополнительные инструкции</a:t>
            </a:r>
          </a:p>
        </p:txBody>
      </p:sp>
      <p:sp>
        <p:nvSpPr>
          <p:cNvPr id="11" name="text-eebsfh-10">
            <a:extLst xmlns:a="http://schemas.openxmlformats.org/drawingml/2006/main">
              <a:ext uri="{FF2B5EF4-FFF2-40B4-BE49-F238E27FC236}">
                <a16:creationId xmlns:a16="http://schemas.microsoft.com/office/drawing/2014/main" id="{1F09A9E2-B93C-46B1-9805-2314405D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76775"/>
            <a:ext cx="53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2" name="text-eebsfh-11">
            <a:extLst xmlns:a="http://schemas.openxmlformats.org/drawingml/2006/main">
              <a:ext uri="{FF2B5EF4-FFF2-40B4-BE49-F238E27FC236}">
                <a16:creationId xmlns:a16="http://schemas.microsoft.com/office/drawing/2014/main" id="{B511C3C9-7798-4D98-9ECB-686060C5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Если факта в материалах нет, инструкция просит модель обозначить пробел.</a:t>
            </a:r>
          </a:p>
          <a:p xmlns:a="http://schemas.openxmlformats.org/drawingml/2006/main">
            <a:pPr>
              <a:defRPr sz="17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Достижения и примеры нужно проверять.</a:t>
            </a:r>
          </a:p>
        </p:txBody>
      </p:sp>
    </p:spTree>
    <p:extLst>
      <p:ext uri="{BB962C8B-B14F-4D97-AF65-F5344CB8AC3E}">
        <p14:creationId xmlns:p14="http://schemas.microsoft.com/office/powerpoint/2010/main" val="15228726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dhx1uh-0.6789362900964351">
            <a:extLst xmlns:a="http://schemas.openxmlformats.org/drawingml/2006/main">
              <a:ext uri="{FF2B5EF4-FFF2-40B4-BE49-F238E27FC236}">
                <a16:creationId xmlns:a16="http://schemas.microsoft.com/office/drawing/2014/main" id="{9924BDF8-9A27-4F39-AE00-50FF1082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Скриншот вместе с заданием</a:t>
            </a:r>
          </a:p>
        </p:txBody>
      </p:sp>
      <p:sp>
        <p:nvSpPr>
          <p:cNvPr id="2" name="text-dhx1uh-1">
            <a:extLst xmlns:a="http://schemas.openxmlformats.org/drawingml/2006/main">
              <a:ext uri="{FF2B5EF4-FFF2-40B4-BE49-F238E27FC236}">
                <a16:creationId xmlns:a16="http://schemas.microsoft.com/office/drawing/2014/main" id="{264CF1C0-E556-47AB-89CF-5EFFC045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ext-dhx1uh-2">
            <a:extLst xmlns:a="http://schemas.openxmlformats.org/drawingml/2006/main">
              <a:ext uri="{FF2B5EF4-FFF2-40B4-BE49-F238E27FC236}">
                <a16:creationId xmlns:a16="http://schemas.microsoft.com/office/drawing/2014/main" id="{29322B34-D296-459E-90B1-FBF13E95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Вставьте изображение, добавьте свой вопрос и отправьте, когда всё готово.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FDED6-1649-4DE9-9A22-EE8DBD57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2867025" cy="117157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76E5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1C2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C23"/>
                </a:solidFill>
                <a:latin typeface="Arial"/>
                <a:ea typeface="Arial"/>
                <a:cs typeface="Arial"/>
              </a:rPr>
              <a:t>Скриншоты</a:t>
            </a:r>
          </a:p>
          <a:p xmlns:a="http://schemas.openxmlformats.org/drawingml/2006/main">
            <a:pPr algn="ctr">
              <a:defRPr sz="1875" b="1">
                <a:solidFill>
                  <a:srgbClr val="091C2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C23"/>
                </a:solidFill>
                <a:latin typeface="Arial"/>
                <a:ea typeface="Arial"/>
                <a:cs typeface="Arial"/>
              </a:rPr>
              <a:t>+ текст запроса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1BCF9-125D-4ECE-90D4-183403EE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24125"/>
            <a:ext cx="32861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837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OCR: извлечение текста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B25C4-1BD1-44BA-9DE5-66CA1E66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32861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837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Изображение целиком</a:t>
            </a:r>
          </a:p>
        </p:txBody>
      </p: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476625" y="2952750"/>
            <a:ext cx="1171575" cy="671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E5CC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76625" y="3624263"/>
            <a:ext cx="1171575" cy="1147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E5CC"/>
            </a:solidFill>
            <a:tailEnd type="arrow" w="med" len="med"/>
          </a:ln>
        </p:spPr>
      </p:cxnSp>
      <p:sp>
        <p:nvSpPr>
          <p:cNvPr id="9" name="text-dhx1uh-8">
            <a:extLst xmlns:a="http://schemas.openxmlformats.org/drawingml/2006/main">
              <a:ext uri="{FF2B5EF4-FFF2-40B4-BE49-F238E27FC236}">
                <a16:creationId xmlns:a16="http://schemas.microsoft.com/office/drawing/2014/main" id="{758DF747-2DC9-4660-B606-75ED2314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62225"/>
            <a:ext cx="312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Для кода и текста.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Распознанный текст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можно исправить.</a:t>
            </a:r>
          </a:p>
        </p:txBody>
      </p:sp>
      <p:sp>
        <p:nvSpPr>
          <p:cNvPr id="10" name="text-dhx1uh-9">
            <a:extLst xmlns:a="http://schemas.openxmlformats.org/drawingml/2006/main">
              <a:ext uri="{FF2B5EF4-FFF2-40B4-BE49-F238E27FC236}">
                <a16:creationId xmlns:a16="http://schemas.microsoft.com/office/drawing/2014/main" id="{39DD6659-2FF8-4F2F-9801-8CDA805A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71975"/>
            <a:ext cx="312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Для схем и графиков.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Модель учитывает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расположение и связи.</a:t>
            </a:r>
          </a:p>
        </p:txBody>
      </p:sp>
      <p:sp>
        <p:nvSpPr>
          <p:cNvPr id="11" name="text-dhx1uh-10">
            <a:extLst xmlns:a="http://schemas.openxmlformats.org/drawingml/2006/main">
              <a:ext uri="{FF2B5EF4-FFF2-40B4-BE49-F238E27FC236}">
                <a16:creationId xmlns:a16="http://schemas.microsoft.com/office/drawing/2014/main" id="{BDFCCAD5-47CA-49C5-B1B3-953E231F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Можно приложить несколько снимков к одному заданию.</a:t>
            </a:r>
          </a:p>
        </p:txBody>
      </p:sp>
    </p:spTree>
    <p:extLst>
      <p:ext uri="{BB962C8B-B14F-4D97-AF65-F5344CB8AC3E}">
        <p14:creationId xmlns:p14="http://schemas.microsoft.com/office/powerpoint/2010/main" val="796722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hok38k-0.14047775101849358">
            <a:extLst xmlns:a="http://schemas.openxmlformats.org/drawingml/2006/main">
              <a:ext uri="{FF2B5EF4-FFF2-40B4-BE49-F238E27FC236}">
                <a16:creationId xmlns:a16="http://schemas.microsoft.com/office/drawing/2014/main" id="{DFE8DC0D-0726-46BE-9C9D-91E4A68F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Техническая задача по шагам</a:t>
            </a:r>
          </a:p>
        </p:txBody>
      </p:sp>
      <p:sp>
        <p:nvSpPr>
          <p:cNvPr id="2" name="text-hok38k-1">
            <a:extLst xmlns:a="http://schemas.openxmlformats.org/drawingml/2006/main">
              <a:ext uri="{FF2B5EF4-FFF2-40B4-BE49-F238E27FC236}">
                <a16:creationId xmlns:a16="http://schemas.microsoft.com/office/drawing/2014/main" id="{51F0C64C-BEC9-4407-9721-C7CCD82E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8D45D-7EE5-456A-B741-51569528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Что уточнить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6B029-5C81-4C1E-B472-4DD5C850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193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Идея решения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895725" y="24574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9F23D-4F00-4609-9210-9D3DFB8A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Код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43825" y="24574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14E46-57A2-4AEF-B7EF-918BF5AB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Сложность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BDE12-771B-4E8C-8AA7-3DEB44AC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814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Крайние случаи</a:t>
            </a:r>
          </a:p>
        </p:txBody>
      </p:sp>
      <p:cxnSp>
        <p:nvCxnSpPr>
          <p:cNvPr id="25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743825" y="40195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E8651-0904-4974-9853-5373C049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Как объяснить</a:t>
            </a:r>
          </a:p>
        </p:txBody>
      </p:sp>
      <p:cxnSp>
        <p:nvCxnSpPr>
          <p:cNvPr id="27" name=""/>
          <p:cNvCxnSpPr>
            <a:stCxn xmlns:a="http://schemas.openxmlformats.org/drawingml/2006/main" id="9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895725" y="40195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948863" y="2895600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4" name="text-hok38k-13">
            <a:extLst xmlns:a="http://schemas.openxmlformats.org/drawingml/2006/main">
              <a:ext uri="{FF2B5EF4-FFF2-40B4-BE49-F238E27FC236}">
                <a16:creationId xmlns:a16="http://schemas.microsoft.com/office/drawing/2014/main" id="{29A883B4-021B-489F-B197-FEA0FD0B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Go, Python и SQL</a:t>
            </a:r>
          </a:p>
        </p:txBody>
      </p:sp>
      <p:sp>
        <p:nvSpPr>
          <p:cNvPr id="15" name="text-hok38k-14">
            <a:extLst xmlns:a="http://schemas.openxmlformats.org/drawingml/2006/main">
              <a:ext uri="{FF2B5EF4-FFF2-40B4-BE49-F238E27FC236}">
                <a16:creationId xmlns:a16="http://schemas.microsoft.com/office/drawing/2014/main" id="{3C88A2CC-EC6B-41CD-9B3F-DDFCE73D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343525"/>
            <a:ext cx="659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Ручной запуск кода и тестов в Docker.</a:t>
            </a:r>
          </a:p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Без сети, с ограничениями ресурсов и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5956152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7rgxau-0.40390049036720266">
            <a:extLst xmlns:a="http://schemas.openxmlformats.org/drawingml/2006/main">
              <a:ext uri="{FF2B5EF4-FFF2-40B4-BE49-F238E27FC236}">
                <a16:creationId xmlns:a16="http://schemas.microsoft.com/office/drawing/2014/main" id="{E73A6D58-A1CD-4397-84CB-3F204D28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System design с рабочей схемой</a:t>
            </a:r>
          </a:p>
        </p:txBody>
      </p:sp>
      <p:sp>
        <p:nvSpPr>
          <p:cNvPr id="2" name="text-7rgxau-1">
            <a:extLst xmlns:a="http://schemas.openxmlformats.org/drawingml/2006/main">
              <a:ext uri="{FF2B5EF4-FFF2-40B4-BE49-F238E27FC236}">
                <a16:creationId xmlns:a16="http://schemas.microsoft.com/office/drawing/2014/main" id="{6190C4E5-2B0E-4333-9A45-B245B85B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text-7rgxau-2">
            <a:extLst xmlns:a="http://schemas.openxmlformats.org/drawingml/2006/main">
              <a:ext uri="{FF2B5EF4-FFF2-40B4-BE49-F238E27FC236}">
                <a16:creationId xmlns:a16="http://schemas.microsoft.com/office/drawing/2014/main" id="{C1E68A31-4C28-42C9-B79A-EE1C8950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Требования, нагрузка, API и решения остаются в одном проекте.</a:t>
            </a:r>
          </a:p>
          <a:p xmlns:a="http://schemas.openxmlformats.org/drawingml/2006/main">
            <a:pPr>
              <a:defRPr sz="21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Новое ограничение обновляет текущую архитектуру.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CB223-3D75-429B-A6A6-D43676FF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2238375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F57A5-6ACB-4AFA-845B-57CABB17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95650"/>
            <a:ext cx="2238375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6853F-13B3-48E9-B850-F5F551AF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09875"/>
            <a:ext cx="20955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Кэш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9B70A-BAD9-40C2-8423-DB139357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29125"/>
            <a:ext cx="20955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Хранилище</a:t>
            </a:r>
          </a:p>
        </p:txBody>
      </p: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47975" y="3709988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915025" y="3224213"/>
            <a:ext cx="904875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15025" y="3709988"/>
            <a:ext cx="90487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1" name="text-7rgxau-10">
            <a:extLst xmlns:a="http://schemas.openxmlformats.org/drawingml/2006/main">
              <a:ext uri="{FF2B5EF4-FFF2-40B4-BE49-F238E27FC236}">
                <a16:creationId xmlns:a16="http://schemas.microsoft.com/office/drawing/2014/main" id="{16EE0E22-AAA0-4F65-9131-E5436363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981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ПРИМЕР СХЕМЫ</a:t>
            </a:r>
          </a:p>
        </p:txBody>
      </p:sp>
      <p:sp>
        <p:nvSpPr>
          <p:cNvPr id="12" name="text-7rgxau-11">
            <a:extLst xmlns:a="http://schemas.openxmlformats.org/drawingml/2006/main">
              <a:ext uri="{FF2B5EF4-FFF2-40B4-BE49-F238E27FC236}">
                <a16:creationId xmlns:a16="http://schemas.microsoft.com/office/drawing/2014/main" id="{3E024FAB-316E-4236-8036-94EE5262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371850"/>
            <a:ext cx="2095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Узлы и связи</a:t>
            </a:r>
          </a:p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помогают</a:t>
            </a:r>
          </a:p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объяснить</a:t>
            </a:r>
          </a:p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решение.</a:t>
            </a:r>
          </a:p>
        </p:txBody>
      </p:sp>
      <p:sp>
        <p:nvSpPr>
          <p:cNvPr id="13" name="text-7rgxau-12">
            <a:extLst xmlns:a="http://schemas.openxmlformats.org/drawingml/2006/main">
              <a:ext uri="{FF2B5EF4-FFF2-40B4-BE49-F238E27FC236}">
                <a16:creationId xmlns:a16="http://schemas.microsoft.com/office/drawing/2014/main" id="{B2E041D3-2B1A-4EF3-ACD8-506A978B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Добавьте «нужен multi-region», изучите изменения и при необходимости</a:t>
            </a:r>
          </a:p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вернитесь к предыдущей версии.</a:t>
            </a:r>
          </a:p>
        </p:txBody>
      </p:sp>
    </p:spTree>
    <p:extLst>
      <p:ext uri="{BB962C8B-B14F-4D97-AF65-F5344CB8AC3E}">
        <p14:creationId xmlns:p14="http://schemas.microsoft.com/office/powerpoint/2010/main" val="14002272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rydy4f-0.15613222378007363">
            <a:extLst xmlns:a="http://schemas.openxmlformats.org/drawingml/2006/main">
              <a:ext uri="{FF2B5EF4-FFF2-40B4-BE49-F238E27FC236}">
                <a16:creationId xmlns:a16="http://schemas.microsoft.com/office/drawing/2014/main" id="{0A604E67-17B8-40E8-819C-CDDB6316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Готовность и восстановление</a:t>
            </a:r>
          </a:p>
        </p:txBody>
      </p:sp>
      <p:sp>
        <p:nvSpPr>
          <p:cNvPr id="2" name="text-rydy4f-1">
            <a:extLst xmlns:a="http://schemas.openxmlformats.org/drawingml/2006/main">
              <a:ext uri="{FF2B5EF4-FFF2-40B4-BE49-F238E27FC236}">
                <a16:creationId xmlns:a16="http://schemas.microsoft.com/office/drawing/2014/main" id="{0584E047-0FAE-4179-8F15-810349D7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text-rydy4f-2">
            <a:extLst xmlns:a="http://schemas.openxmlformats.org/drawingml/2006/main">
              <a:ext uri="{FF2B5EF4-FFF2-40B4-BE49-F238E27FC236}">
                <a16:creationId xmlns:a16="http://schemas.microsoft.com/office/drawing/2014/main" id="{FD4AD6FD-7AE1-4C9F-BFDE-CB3C5CBE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ПЕРЕД СЕССИЕЙ</a:t>
            </a:r>
          </a:p>
        </p:txBody>
      </p:sp>
      <p:sp>
        <p:nvSpPr>
          <p:cNvPr id="4" name="text-rydy4f-3">
            <a:extLst xmlns:a="http://schemas.openxmlformats.org/drawingml/2006/main">
              <a:ext uri="{FF2B5EF4-FFF2-40B4-BE49-F238E27FC236}">
                <a16:creationId xmlns:a16="http://schemas.microsoft.com/office/drawing/2014/main" id="{E2C207A4-3823-4CF4-8119-E1A5B99B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Проверить готовность</a:t>
            </a:r>
          </a:p>
        </p:txBody>
      </p:sp>
      <p:sp>
        <p:nvSpPr>
          <p:cNvPr id="5" name="text-rydy4f-4">
            <a:extLst xmlns:a="http://schemas.openxmlformats.org/drawingml/2006/main">
              <a:ext uri="{FF2B5EF4-FFF2-40B4-BE49-F238E27FC236}">
                <a16:creationId xmlns:a16="http://schemas.microsoft.com/office/drawing/2014/main" id="{8CCD44FE-54A3-42DB-BF20-58991DAB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23875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Доступ к модели и время ответа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Захват экрана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Поступление системного звука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Микрофон, если он выбран</a:t>
            </a:r>
          </a:p>
        </p:txBody>
      </p:sp>
      <p:sp>
        <p:nvSpPr>
          <p:cNvPr id="6" name="text-rydy4f-5">
            <a:extLst xmlns:a="http://schemas.openxmlformats.org/drawingml/2006/main">
              <a:ext uri="{FF2B5EF4-FFF2-40B4-BE49-F238E27FC236}">
                <a16:creationId xmlns:a16="http://schemas.microsoft.com/office/drawing/2014/main" id="{1DA19865-8332-417E-9788-16DE4AB6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97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ПРИ СБОЕ</a:t>
            </a:r>
          </a:p>
        </p:txBody>
      </p:sp>
      <p:sp>
        <p:nvSpPr>
          <p:cNvPr id="7" name="text-rydy4f-6">
            <a:extLst xmlns:a="http://schemas.openxmlformats.org/drawingml/2006/main">
              <a:ext uri="{FF2B5EF4-FFF2-40B4-BE49-F238E27FC236}">
                <a16:creationId xmlns:a16="http://schemas.microsoft.com/office/drawing/2014/main" id="{75565316-B0CA-4101-B552-4D12CE27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9825"/>
            <a:ext cx="487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Продолжить сессию</a:t>
            </a:r>
          </a:p>
        </p:txBody>
      </p:sp>
      <p:sp>
        <p:nvSpPr>
          <p:cNvPr id="8" name="text-rydy4f-7">
            <a:extLst xmlns:a="http://schemas.openxmlformats.org/drawingml/2006/main">
              <a:ext uri="{FF2B5EF4-FFF2-40B4-BE49-F238E27FC236}">
                <a16:creationId xmlns:a16="http://schemas.microsoft.com/office/drawing/2014/main" id="{EEEED971-243C-424D-8A0E-3BAB6E4D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48768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Сохранённые темы и черновик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Положение чтения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Повтор конкретного запроса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Продолжение после перезапуска</a:t>
            </a:r>
          </a:p>
        </p:txBody>
      </p:sp>
      <p:sp>
        <p:nvSpPr>
          <p:cNvPr id="9" name="text-rydy4f-8">
            <a:extLst xmlns:a="http://schemas.openxmlformats.org/drawingml/2006/main">
              <a:ext uri="{FF2B5EF4-FFF2-40B4-BE49-F238E27FC236}">
                <a16:creationId xmlns:a16="http://schemas.microsoft.com/office/drawing/2014/main" id="{316998AA-8B3E-435F-84D5-A0A17E73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Сеть, доступность модели и разрешения macOS проверяются в реальных условиях звонка.</a:t>
            </a:r>
          </a:p>
        </p:txBody>
      </p:sp>
    </p:spTree>
    <p:extLst>
      <p:ext uri="{BB962C8B-B14F-4D97-AF65-F5344CB8AC3E}">
        <p14:creationId xmlns:p14="http://schemas.microsoft.com/office/powerpoint/2010/main" val="5861548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j2ksm4-0.576578814602687">
            <a:extLst xmlns:a="http://schemas.openxmlformats.org/drawingml/2006/main">
              <a:ext uri="{FF2B5EF4-FFF2-40B4-BE49-F238E27FC236}">
                <a16:creationId xmlns:a16="http://schemas.microsoft.com/office/drawing/2014/main" id="{A81968AF-6596-4109-B6F3-27DC192C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После разговора остаётся план</a:t>
            </a:r>
          </a:p>
        </p:txBody>
      </p:sp>
      <p:sp>
        <p:nvSpPr>
          <p:cNvPr id="2" name="text-j2ksm4-1">
            <a:extLst xmlns:a="http://schemas.openxmlformats.org/drawingml/2006/main">
              <a:ext uri="{FF2B5EF4-FFF2-40B4-BE49-F238E27FC236}">
                <a16:creationId xmlns:a16="http://schemas.microsoft.com/office/drawing/2014/main" id="{42EBF2B2-7D35-4A84-AE85-2C7916AC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text-j2ksm4-2">
            <a:extLst xmlns:a="http://schemas.openxmlformats.org/drawingml/2006/main">
              <a:ext uri="{FF2B5EF4-FFF2-40B4-BE49-F238E27FC236}">
                <a16:creationId xmlns:a16="http://schemas.microsoft.com/office/drawing/2014/main" id="{135F7D58-DA88-41AA-BEE8-5AB84ECB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4" name="text-j2ksm4-3">
            <a:extLst xmlns:a="http://schemas.openxmlformats.org/drawingml/2006/main">
              <a:ext uri="{FF2B5EF4-FFF2-40B4-BE49-F238E27FC236}">
                <a16:creationId xmlns:a16="http://schemas.microsoft.com/office/drawing/2014/main" id="{A53FCF09-7308-4A6A-9AA6-AC369A33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143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Сохранённые вопросы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ответы. Удаление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одной истории или всех.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E2FE4-43DB-4391-A569-E08E2C94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24050"/>
            <a:ext cx="67437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Что вызвало уточнения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9C112-EDC6-419E-849D-6489F441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14675"/>
            <a:ext cx="67437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Что стоит перепроверить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95C1A-7848-4E78-B445-4BAF395E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67437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Что повторить завтра</a:t>
            </a:r>
          </a:p>
        </p:txBody>
      </p:sp>
      <p:cxnSp>
        <p:nvCxnSpPr>
          <p:cNvPr id="18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058150" y="263842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058150" y="38290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0" name="text-j2ksm4-9">
            <a:extLst xmlns:a="http://schemas.openxmlformats.org/drawingml/2006/main">
              <a:ext uri="{FF2B5EF4-FFF2-40B4-BE49-F238E27FC236}">
                <a16:creationId xmlns:a16="http://schemas.microsoft.com/office/drawing/2014/main" id="{FE6A67B8-9193-4C6F-BE39-7DD22B88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Разбор помогает выбрать темы для повторения.</a:t>
            </a:r>
          </a:p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Он анализирует историю запросов, а не оценивает ваши устные ответы.</a:t>
            </a:r>
          </a:p>
        </p:txBody>
      </p:sp>
    </p:spTree>
    <p:extLst>
      <p:ext uri="{BB962C8B-B14F-4D97-AF65-F5344CB8AC3E}">
        <p14:creationId xmlns:p14="http://schemas.microsoft.com/office/powerpoint/2010/main" val="2371918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3adgsr-0.9846969694519363">
            <a:extLst xmlns:a="http://schemas.openxmlformats.org/drawingml/2006/main">
              <a:ext uri="{FF2B5EF4-FFF2-40B4-BE49-F238E27FC236}">
                <a16:creationId xmlns:a16="http://schemas.microsoft.com/office/drawing/2014/main" id="{CB4AB77B-6E10-45CA-839A-B444F2D9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Выбор модели и контроль данных</a:t>
            </a:r>
          </a:p>
        </p:txBody>
      </p:sp>
      <p:sp>
        <p:nvSpPr>
          <p:cNvPr id="2" name="text-3adgsr-1">
            <a:extLst xmlns:a="http://schemas.openxmlformats.org/drawingml/2006/main">
              <a:ext uri="{FF2B5EF4-FFF2-40B4-BE49-F238E27FC236}">
                <a16:creationId xmlns:a16="http://schemas.microsoft.com/office/drawing/2014/main" id="{D697681C-A4CF-4D76-9A2E-1FA4A074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9F634-17CD-4BF9-9B71-EBE8FABD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914650" cy="122872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Приложение</a:t>
            </a:r>
          </a:p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на компьютере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C75F6-1E2A-41FD-B0B1-1BE0A70F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52625"/>
            <a:ext cx="283845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OpenRouter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1C93B-8F81-40FB-B736-530457DE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90925"/>
            <a:ext cx="283845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077AD-3EE4-47AC-B43F-9ECF921E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0325"/>
            <a:ext cx="2895600" cy="1152525"/>
          </a:xfrm>
          <a:prstGeom xmlns:a="http://schemas.openxmlformats.org/drawingml/2006/main" prst="roundRect">
            <a:avLst>
              <a:gd name="adj" fmla="val 9917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Выбранная</a:t>
            </a:r>
          </a:p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модель ответа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524250" y="2366963"/>
            <a:ext cx="11811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24250" y="3033713"/>
            <a:ext cx="118110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43800" y="2366963"/>
            <a:ext cx="10477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7543800" y="3176588"/>
            <a:ext cx="104775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1" name="text-3adgsr-10">
            <a:extLst xmlns:a="http://schemas.openxmlformats.org/drawingml/2006/main">
              <a:ext uri="{FF2B5EF4-FFF2-40B4-BE49-F238E27FC236}">
                <a16:creationId xmlns:a16="http://schemas.microsoft.com/office/drawing/2014/main" id="{6836E236-237A-4868-9A93-DD211C7C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Локально: настройки,</a:t>
            </a:r>
          </a:p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материалы и история.</a:t>
            </a:r>
          </a:p>
        </p:txBody>
      </p:sp>
      <p:sp>
        <p:nvSpPr>
          <p:cNvPr id="12" name="text-3adgsr-11">
            <a:extLst xmlns:a="http://schemas.openxmlformats.org/drawingml/2006/main">
              <a:ext uri="{FF2B5EF4-FFF2-40B4-BE49-F238E27FC236}">
                <a16:creationId xmlns:a16="http://schemas.microsoft.com/office/drawing/2014/main" id="{6F275136-4A26-470C-A60D-BF87B108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76800"/>
            <a:ext cx="6572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В выбранный сервис уходят данные</a:t>
            </a:r>
          </a:p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для обработки: текст, аудио</a:t>
            </a:r>
          </a:p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отправленные изображения.</a:t>
            </a:r>
          </a:p>
        </p:txBody>
      </p:sp>
      <p:sp>
        <p:nvSpPr>
          <p:cNvPr id="13" name="text-3adgsr-12">
            <a:extLst xmlns:a="http://schemas.openxmlformats.org/drawingml/2006/main">
              <a:ext uri="{FF2B5EF4-FFF2-40B4-BE49-F238E27FC236}">
                <a16:creationId xmlns:a16="http://schemas.microsoft.com/office/drawing/2014/main" id="{BCBC72D1-BB5B-44A1-AB7C-64A05320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Новые режимы работают с OpenAI и OpenRouter. Использование API оплачивается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2052607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m86lb-0.7191919840312916">
            <a:extLst xmlns:a="http://schemas.openxmlformats.org/drawingml/2006/main">
              <a:ext uri="{FF2B5EF4-FFF2-40B4-BE49-F238E27FC236}">
                <a16:creationId xmlns:a16="http://schemas.microsoft.com/office/drawing/2014/main" id="{6E588938-D2B2-4E9F-B14B-935987D1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Проверки ключевых сценариев</a:t>
            </a:r>
          </a:p>
        </p:txBody>
      </p:sp>
      <p:sp>
        <p:nvSpPr>
          <p:cNvPr id="2" name="text-4m86lb-1">
            <a:extLst xmlns:a="http://schemas.openxmlformats.org/drawingml/2006/main">
              <a:ext uri="{FF2B5EF4-FFF2-40B4-BE49-F238E27FC236}">
                <a16:creationId xmlns:a16="http://schemas.microsoft.com/office/drawing/2014/main" id="{9AAE39B0-856A-44D4-9C66-796ECE99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text-4m86lb-2">
            <a:extLst xmlns:a="http://schemas.openxmlformats.org/drawingml/2006/main">
              <a:ext uri="{FF2B5EF4-FFF2-40B4-BE49-F238E27FC236}">
                <a16:creationId xmlns:a16="http://schemas.microsoft.com/office/drawing/2014/main" id="{6608D94F-20EB-414C-9E73-CBDD27D6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295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450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9450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sp>
        <p:nvSpPr>
          <p:cNvPr id="4" name="text-4m86lb-3">
            <a:extLst xmlns:a="http://schemas.openxmlformats.org/drawingml/2006/main">
              <a:ext uri="{FF2B5EF4-FFF2-40B4-BE49-F238E27FC236}">
                <a16:creationId xmlns:a16="http://schemas.microsoft.com/office/drawing/2014/main" id="{6A665F4F-148D-4446-B3DD-DF8F1EA9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автоматических теста</a:t>
            </a:r>
          </a:p>
          <a:p xmlns:a="http://schemas.openxmlformats.org/drawingml/2006/main">
            <a:pPr>
              <a:defRPr sz="225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прошли проверку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171950" y="1838325"/>
          <a:ext xmlns:a="http://schemas.openxmlformats.org/drawingml/2006/main" cx="7372350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7df3401b92490b"/>
          </a:graphicData>
        </a:graphic>
      </p:graphicFrame>
      <p:sp>
        <p:nvSpPr>
          <p:cNvPr id="6" name="text-4m86lb-4">
            <a:extLst xmlns:a="http://schemas.openxmlformats.org/drawingml/2006/main">
              <a:ext uri="{FF2B5EF4-FFF2-40B4-BE49-F238E27FC236}">
                <a16:creationId xmlns:a16="http://schemas.microsoft.com/office/drawing/2014/main" id="{C44F407B-DFEB-464F-AFAA-CE9C4454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3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Проверка от 23 сентября 2026. Автотесты дополняют репетицию звонка:</a:t>
            </a:r>
          </a:p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звук, разрешения и доступ к API зависят от компьютера и провайдера.</a:t>
            </a:r>
          </a:p>
        </p:txBody>
      </p:sp>
    </p:spTree>
    <p:extLst>
      <p:ext uri="{BB962C8B-B14F-4D97-AF65-F5344CB8AC3E}">
        <p14:creationId xmlns:p14="http://schemas.microsoft.com/office/powerpoint/2010/main" val="19247671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c8gpy2-0.017690320290712158">
            <a:extLst xmlns:a="http://schemas.openxmlformats.org/drawingml/2006/main">
              <a:ext uri="{FF2B5EF4-FFF2-40B4-BE49-F238E27FC236}">
                <a16:creationId xmlns:a16="http://schemas.microsoft.com/office/drawing/2014/main" id="{2852645B-5F89-4781-A3B4-5E123CE7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Первый запуск</a:t>
            </a:r>
          </a:p>
        </p:txBody>
      </p:sp>
      <p:sp>
        <p:nvSpPr>
          <p:cNvPr id="2" name="text-c8gpy2-1">
            <a:extLst xmlns:a="http://schemas.openxmlformats.org/drawingml/2006/main">
              <a:ext uri="{FF2B5EF4-FFF2-40B4-BE49-F238E27FC236}">
                <a16:creationId xmlns:a16="http://schemas.microsoft.com/office/drawing/2014/main" id="{5036B765-26E9-462E-8B73-93AC54B0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text-c8gpy2-2">
            <a:extLst xmlns:a="http://schemas.openxmlformats.org/drawingml/2006/main">
              <a:ext uri="{FF2B5EF4-FFF2-40B4-BE49-F238E27FC236}">
                <a16:creationId xmlns:a16="http://schemas.microsoft.com/office/drawing/2014/main" id="{81C2FB73-9E79-4395-94A0-53E3CB8A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c8gpy2-3">
            <a:extLst xmlns:a="http://schemas.openxmlformats.org/drawingml/2006/main">
              <a:ext uri="{FF2B5EF4-FFF2-40B4-BE49-F238E27FC236}">
                <a16:creationId xmlns:a16="http://schemas.microsoft.com/office/drawing/2014/main" id="{61D9A2CB-1CE0-4BF4-96D7-98591B7F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8097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Откройте Cheating Daddy</a:t>
            </a:r>
          </a:p>
        </p:txBody>
      </p:sp>
      <p:sp>
        <p:nvSpPr>
          <p:cNvPr id="5" name="text-c8gpy2-4">
            <a:extLst xmlns:a="http://schemas.openxmlformats.org/drawingml/2006/main">
              <a:ext uri="{FF2B5EF4-FFF2-40B4-BE49-F238E27FC236}">
                <a16:creationId xmlns:a16="http://schemas.microsoft.com/office/drawing/2014/main" id="{7E9A44F6-1E11-4C51-9854-B8C923ED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2574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Готовое приложение на Mac или npm install и npm start из исходников.</a:t>
            </a:r>
          </a:p>
        </p:txBody>
      </p:sp>
      <p:sp>
        <p:nvSpPr>
          <p:cNvPr id="6" name="text-c8gpy2-5">
            <a:extLst xmlns:a="http://schemas.openxmlformats.org/drawingml/2006/main">
              <a:ext uri="{FF2B5EF4-FFF2-40B4-BE49-F238E27FC236}">
                <a16:creationId xmlns:a16="http://schemas.microsoft.com/office/drawing/2014/main" id="{2556119C-7337-409E-85CB-7DA8B11A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-c8gpy2-6">
            <a:extLst xmlns:a="http://schemas.openxmlformats.org/drawingml/2006/main">
              <a:ext uri="{FF2B5EF4-FFF2-40B4-BE49-F238E27FC236}">
                <a16:creationId xmlns:a16="http://schemas.microsoft.com/office/drawing/2014/main" id="{AB8C300D-7965-480B-A9A7-A0A96E2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8194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Настройте модель и свой контекст</a:t>
            </a:r>
          </a:p>
        </p:txBody>
      </p:sp>
      <p:sp>
        <p:nvSpPr>
          <p:cNvPr id="8" name="text-c8gpy2-7">
            <a:extLst xmlns:a="http://schemas.openxmlformats.org/drawingml/2006/main">
              <a:ext uri="{FF2B5EF4-FFF2-40B4-BE49-F238E27FC236}">
                <a16:creationId xmlns:a16="http://schemas.microsoft.com/office/drawing/2014/main" id="{1746F68D-6DF0-4919-BD2D-9CC34260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2670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Ключ API, язык речи, профиль инструкций и материалы вакансии.</a:t>
            </a:r>
          </a:p>
        </p:txBody>
      </p:sp>
      <p:sp>
        <p:nvSpPr>
          <p:cNvPr id="9" name="text-c8gpy2-8">
            <a:extLst xmlns:a="http://schemas.openxmlformats.org/drawingml/2006/main">
              <a:ext uri="{FF2B5EF4-FFF2-40B4-BE49-F238E27FC236}">
                <a16:creationId xmlns:a16="http://schemas.microsoft.com/office/drawing/2014/main" id="{6883128A-AC85-447D-8A09-42429EC2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-c8gpy2-9">
            <a:extLst xmlns:a="http://schemas.openxmlformats.org/drawingml/2006/main">
              <a:ext uri="{FF2B5EF4-FFF2-40B4-BE49-F238E27FC236}">
                <a16:creationId xmlns:a16="http://schemas.microsoft.com/office/drawing/2014/main" id="{F2DABBA3-CB2D-4762-B910-339315A3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8290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Проверьте готовность</a:t>
            </a:r>
          </a:p>
        </p:txBody>
      </p:sp>
      <p:sp>
        <p:nvSpPr>
          <p:cNvPr id="11" name="text-c8gpy2-10">
            <a:extLst xmlns:a="http://schemas.openxmlformats.org/drawingml/2006/main">
              <a:ext uri="{FF2B5EF4-FFF2-40B4-BE49-F238E27FC236}">
                <a16:creationId xmlns:a16="http://schemas.microsoft.com/office/drawing/2014/main" id="{64806793-0AA2-4822-A47C-5650C4DE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2767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Убедитесь, что модель отвечает, экран захватывается и звук поступает.</a:t>
            </a:r>
          </a:p>
        </p:txBody>
      </p:sp>
      <p:sp>
        <p:nvSpPr>
          <p:cNvPr id="12" name="text-c8gpy2-11">
            <a:extLst xmlns:a="http://schemas.openxmlformats.org/drawingml/2006/main">
              <a:ext uri="{FF2B5EF4-FFF2-40B4-BE49-F238E27FC236}">
                <a16:creationId xmlns:a16="http://schemas.microsoft.com/office/drawing/2014/main" id="{3A1102AF-7C02-4751-A787-D853FE5D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text-c8gpy2-12">
            <a:extLst xmlns:a="http://schemas.openxmlformats.org/drawingml/2006/main">
              <a:ext uri="{FF2B5EF4-FFF2-40B4-BE49-F238E27FC236}">
                <a16:creationId xmlns:a16="http://schemas.microsoft.com/office/drawing/2014/main" id="{9C047148-1704-4C7D-8699-5A6075A9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8387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Начните пробную сессию</a:t>
            </a:r>
          </a:p>
        </p:txBody>
      </p:sp>
      <p:sp>
        <p:nvSpPr>
          <p:cNvPr id="14" name="text-c8gpy2-13">
            <a:extLst xmlns:a="http://schemas.openxmlformats.org/drawingml/2006/main">
              <a:ext uri="{FF2B5EF4-FFF2-40B4-BE49-F238E27FC236}">
                <a16:creationId xmlns:a16="http://schemas.microsoft.com/office/drawing/2014/main" id="{2AF6E27F-BB19-4E99-8A0D-2E7EE14A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2863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Задайте вопрос, прочитайте ответ, добавьте уточнение и откройте History.</a:t>
            </a:r>
          </a:p>
        </p:txBody>
      </p:sp>
    </p:spTree>
    <p:extLst>
      <p:ext uri="{BB962C8B-B14F-4D97-AF65-F5344CB8AC3E}">
        <p14:creationId xmlns:p14="http://schemas.microsoft.com/office/powerpoint/2010/main" val="1250653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2026-09-23T15:49:49.1810000Z</dcterms:created>
  <dcterms:modified xsi:type="dcterms:W3CDTF">2026-09-23T15:49:49.1810000Z</dcterms:modified>
</coreProperties>
</file>